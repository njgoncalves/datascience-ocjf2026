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59" r:id="rId7"/>
    <p:sldId id="260" r:id="rId8"/>
    <p:sldId id="261" r:id="rId9"/>
    <p:sldId id="25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3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RTO JORGE ALVES PARENTE GONÇALVES" userId="46ecbfbb-e891-4ade-91d2-1d5338767686" providerId="ADAL" clId="{FD78C1D4-6A3F-43AC-B785-F62392BDB76C}"/>
    <pc:docChg chg="undo custSel addSld modSld">
      <pc:chgData name="NORBERTO JORGE ALVES PARENTE GONÇALVES" userId="46ecbfbb-e891-4ade-91d2-1d5338767686" providerId="ADAL" clId="{FD78C1D4-6A3F-43AC-B785-F62392BDB76C}" dt="2025-07-06T17:43:45.196" v="45" actId="12"/>
      <pc:docMkLst>
        <pc:docMk/>
      </pc:docMkLst>
      <pc:sldChg chg="modSp">
        <pc:chgData name="NORBERTO JORGE ALVES PARENTE GONÇALVES" userId="46ecbfbb-e891-4ade-91d2-1d5338767686" providerId="ADAL" clId="{FD78C1D4-6A3F-43AC-B785-F62392BDB76C}" dt="2025-07-06T17:35:26.559" v="18" actId="20577"/>
        <pc:sldMkLst>
          <pc:docMk/>
          <pc:sldMk cId="1262609416" sldId="256"/>
        </pc:sldMkLst>
        <pc:spChg chg="mod">
          <ac:chgData name="NORBERTO JORGE ALVES PARENTE GONÇALVES" userId="46ecbfbb-e891-4ade-91d2-1d5338767686" providerId="ADAL" clId="{FD78C1D4-6A3F-43AC-B785-F62392BDB76C}" dt="2025-07-06T17:35:26.559" v="18" actId="20577"/>
          <ac:spMkLst>
            <pc:docMk/>
            <pc:sldMk cId="1262609416" sldId="256"/>
            <ac:spMk id="2" creationId="{1E08E06F-B8F9-42E4-B8F4-601B22B47F67}"/>
          </ac:spMkLst>
        </pc:spChg>
        <pc:spChg chg="mod">
          <ac:chgData name="NORBERTO JORGE ALVES PARENTE GONÇALVES" userId="46ecbfbb-e891-4ade-91d2-1d5338767686" providerId="ADAL" clId="{FD78C1D4-6A3F-43AC-B785-F62392BDB76C}" dt="2025-07-06T17:35:21.337" v="11" actId="20577"/>
          <ac:spMkLst>
            <pc:docMk/>
            <pc:sldMk cId="1262609416" sldId="256"/>
            <ac:spMk id="3" creationId="{B5F2C4DD-C7C7-4422-A3FC-7976E6004AAF}"/>
          </ac:spMkLst>
        </pc:spChg>
      </pc:sldChg>
      <pc:sldChg chg="modSp">
        <pc:chgData name="NORBERTO JORGE ALVES PARENTE GONÇALVES" userId="46ecbfbb-e891-4ade-91d2-1d5338767686" providerId="ADAL" clId="{FD78C1D4-6A3F-43AC-B785-F62392BDB76C}" dt="2025-07-06T17:43:11.042" v="42" actId="20577"/>
        <pc:sldMkLst>
          <pc:docMk/>
          <pc:sldMk cId="761828981" sldId="257"/>
        </pc:sldMkLst>
        <pc:spChg chg="mod">
          <ac:chgData name="NORBERTO JORGE ALVES PARENTE GONÇALVES" userId="46ecbfbb-e891-4ade-91d2-1d5338767686" providerId="ADAL" clId="{FD78C1D4-6A3F-43AC-B785-F62392BDB76C}" dt="2025-07-06T17:42:58.765" v="40"/>
          <ac:spMkLst>
            <pc:docMk/>
            <pc:sldMk cId="761828981" sldId="257"/>
            <ac:spMk id="2" creationId="{757CBAAE-0559-42DD-A1BA-4D6A05B561A6}"/>
          </ac:spMkLst>
        </pc:spChg>
        <pc:spChg chg="mod">
          <ac:chgData name="NORBERTO JORGE ALVES PARENTE GONÇALVES" userId="46ecbfbb-e891-4ade-91d2-1d5338767686" providerId="ADAL" clId="{FD78C1D4-6A3F-43AC-B785-F62392BDB76C}" dt="2025-07-06T17:43:11.042" v="42" actId="20577"/>
          <ac:spMkLst>
            <pc:docMk/>
            <pc:sldMk cId="761828981" sldId="257"/>
            <ac:spMk id="3" creationId="{F61A523B-51EC-4DC4-9005-38E4445E75FE}"/>
          </ac:spMkLst>
        </pc:spChg>
      </pc:sldChg>
      <pc:sldChg chg="modSp">
        <pc:chgData name="NORBERTO JORGE ALVES PARENTE GONÇALVES" userId="46ecbfbb-e891-4ade-91d2-1d5338767686" providerId="ADAL" clId="{FD78C1D4-6A3F-43AC-B785-F62392BDB76C}" dt="2025-07-06T17:36:34.108" v="22" actId="20577"/>
        <pc:sldMkLst>
          <pc:docMk/>
          <pc:sldMk cId="2322765900" sldId="258"/>
        </pc:sldMkLst>
        <pc:spChg chg="mod">
          <ac:chgData name="NORBERTO JORGE ALVES PARENTE GONÇALVES" userId="46ecbfbb-e891-4ade-91d2-1d5338767686" providerId="ADAL" clId="{FD78C1D4-6A3F-43AC-B785-F62392BDB76C}" dt="2025-07-06T17:36:14.874" v="19"/>
          <ac:spMkLst>
            <pc:docMk/>
            <pc:sldMk cId="2322765900" sldId="258"/>
            <ac:spMk id="2" creationId="{16E5B58E-D015-4687-B214-307DCE269F88}"/>
          </ac:spMkLst>
        </pc:spChg>
        <pc:spChg chg="mod">
          <ac:chgData name="NORBERTO JORGE ALVES PARENTE GONÇALVES" userId="46ecbfbb-e891-4ade-91d2-1d5338767686" providerId="ADAL" clId="{FD78C1D4-6A3F-43AC-B785-F62392BDB76C}" dt="2025-07-06T17:36:34.108" v="22" actId="20577"/>
          <ac:spMkLst>
            <pc:docMk/>
            <pc:sldMk cId="2322765900" sldId="258"/>
            <ac:spMk id="3" creationId="{6BDD350F-5697-421F-A82D-BEA3179AD0A0}"/>
          </ac:spMkLst>
        </pc:spChg>
      </pc:sldChg>
      <pc:sldChg chg="modSp">
        <pc:chgData name="NORBERTO JORGE ALVES PARENTE GONÇALVES" userId="46ecbfbb-e891-4ade-91d2-1d5338767686" providerId="ADAL" clId="{FD78C1D4-6A3F-43AC-B785-F62392BDB76C}" dt="2025-07-06T17:40:43.257" v="26" actId="27636"/>
        <pc:sldMkLst>
          <pc:docMk/>
          <pc:sldMk cId="478333891" sldId="259"/>
        </pc:sldMkLst>
        <pc:spChg chg="mod">
          <ac:chgData name="NORBERTO JORGE ALVES PARENTE GONÇALVES" userId="46ecbfbb-e891-4ade-91d2-1d5338767686" providerId="ADAL" clId="{FD78C1D4-6A3F-43AC-B785-F62392BDB76C}" dt="2025-07-06T17:40:27.758" v="24" actId="404"/>
          <ac:spMkLst>
            <pc:docMk/>
            <pc:sldMk cId="478333891" sldId="259"/>
            <ac:spMk id="2" creationId="{D5DA3072-F29C-4F99-9D98-366EFB2DD699}"/>
          </ac:spMkLst>
        </pc:spChg>
        <pc:spChg chg="mod">
          <ac:chgData name="NORBERTO JORGE ALVES PARENTE GONÇALVES" userId="46ecbfbb-e891-4ade-91d2-1d5338767686" providerId="ADAL" clId="{FD78C1D4-6A3F-43AC-B785-F62392BDB76C}" dt="2025-07-06T17:40:43.257" v="26" actId="27636"/>
          <ac:spMkLst>
            <pc:docMk/>
            <pc:sldMk cId="478333891" sldId="259"/>
            <ac:spMk id="3" creationId="{640C7D2D-B03C-483E-ADDD-769EAE97E8A4}"/>
          </ac:spMkLst>
        </pc:spChg>
      </pc:sldChg>
      <pc:sldChg chg="modSp">
        <pc:chgData name="NORBERTO JORGE ALVES PARENTE GONÇALVES" userId="46ecbfbb-e891-4ade-91d2-1d5338767686" providerId="ADAL" clId="{FD78C1D4-6A3F-43AC-B785-F62392BDB76C}" dt="2025-07-06T17:41:19.652" v="29" actId="20577"/>
        <pc:sldMkLst>
          <pc:docMk/>
          <pc:sldMk cId="3366214471" sldId="260"/>
        </pc:sldMkLst>
        <pc:spChg chg="mod">
          <ac:chgData name="NORBERTO JORGE ALVES PARENTE GONÇALVES" userId="46ecbfbb-e891-4ade-91d2-1d5338767686" providerId="ADAL" clId="{FD78C1D4-6A3F-43AC-B785-F62392BDB76C}" dt="2025-07-06T17:41:05.026" v="27"/>
          <ac:spMkLst>
            <pc:docMk/>
            <pc:sldMk cId="3366214471" sldId="260"/>
            <ac:spMk id="2" creationId="{D5DA3072-F29C-4F99-9D98-366EFB2DD699}"/>
          </ac:spMkLst>
        </pc:spChg>
        <pc:spChg chg="mod">
          <ac:chgData name="NORBERTO JORGE ALVES PARENTE GONÇALVES" userId="46ecbfbb-e891-4ade-91d2-1d5338767686" providerId="ADAL" clId="{FD78C1D4-6A3F-43AC-B785-F62392BDB76C}" dt="2025-07-06T17:41:19.652" v="29" actId="20577"/>
          <ac:spMkLst>
            <pc:docMk/>
            <pc:sldMk cId="3366214471" sldId="260"/>
            <ac:spMk id="3" creationId="{640C7D2D-B03C-483E-ADDD-769EAE97E8A4}"/>
          </ac:spMkLst>
        </pc:spChg>
      </pc:sldChg>
      <pc:sldChg chg="modSp">
        <pc:chgData name="NORBERTO JORGE ALVES PARENTE GONÇALVES" userId="46ecbfbb-e891-4ade-91d2-1d5338767686" providerId="ADAL" clId="{FD78C1D4-6A3F-43AC-B785-F62392BDB76C}" dt="2025-07-06T17:42:10.875" v="34" actId="20577"/>
        <pc:sldMkLst>
          <pc:docMk/>
          <pc:sldMk cId="2728488877" sldId="261"/>
        </pc:sldMkLst>
        <pc:spChg chg="mod">
          <ac:chgData name="NORBERTO JORGE ALVES PARENTE GONÇALVES" userId="46ecbfbb-e891-4ade-91d2-1d5338767686" providerId="ADAL" clId="{FD78C1D4-6A3F-43AC-B785-F62392BDB76C}" dt="2025-07-06T17:41:35.210" v="30"/>
          <ac:spMkLst>
            <pc:docMk/>
            <pc:sldMk cId="2728488877" sldId="261"/>
            <ac:spMk id="2" creationId="{0BAF03CE-2F30-4561-9FC0-5E1C8A2B6C77}"/>
          </ac:spMkLst>
        </pc:spChg>
        <pc:spChg chg="mod">
          <ac:chgData name="NORBERTO JORGE ALVES PARENTE GONÇALVES" userId="46ecbfbb-e891-4ade-91d2-1d5338767686" providerId="ADAL" clId="{FD78C1D4-6A3F-43AC-B785-F62392BDB76C}" dt="2025-07-06T17:42:10.875" v="34" actId="20577"/>
          <ac:spMkLst>
            <pc:docMk/>
            <pc:sldMk cId="2728488877" sldId="261"/>
            <ac:spMk id="3" creationId="{CDEBDD2C-BC34-4469-8F4F-0F974D608B26}"/>
          </ac:spMkLst>
        </pc:spChg>
      </pc:sldChg>
      <pc:sldChg chg="modSp add">
        <pc:chgData name="NORBERTO JORGE ALVES PARENTE GONÇALVES" userId="46ecbfbb-e891-4ade-91d2-1d5338767686" providerId="ADAL" clId="{FD78C1D4-6A3F-43AC-B785-F62392BDB76C}" dt="2025-07-06T17:43:45.196" v="45" actId="12"/>
        <pc:sldMkLst>
          <pc:docMk/>
          <pc:sldMk cId="2121767567" sldId="262"/>
        </pc:sldMkLst>
        <pc:spChg chg="mod">
          <ac:chgData name="NORBERTO JORGE ALVES PARENTE GONÇALVES" userId="46ecbfbb-e891-4ade-91d2-1d5338767686" providerId="ADAL" clId="{FD78C1D4-6A3F-43AC-B785-F62392BDB76C}" dt="2025-07-06T17:43:45.196" v="45" actId="12"/>
          <ac:spMkLst>
            <pc:docMk/>
            <pc:sldMk cId="2121767567" sldId="262"/>
            <ac:spMk id="3" creationId="{F61A523B-51EC-4DC4-9005-38E4445E75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D2915-790B-4840-BBAE-DCDE44067265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C4523-10DC-4EDE-ABEF-B147D6ABA5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955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DA0B3-0556-4080-9772-D4E860D06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D73B3F-3633-4411-88AF-D60981FA9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33FEC50-3CB4-49A7-8751-F87DCD80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4E238F7-8492-42E0-B0D4-4C0D5C12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E78F13-1E8B-4BDB-AD27-DF2A4B99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EA61E85-DC9A-4583-9C42-C118E4AB53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257" y="5803475"/>
            <a:ext cx="5480595" cy="91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EBA9C0B-3F4C-4F46-BFB8-658549F39B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46" y="5812300"/>
            <a:ext cx="1308758" cy="91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4D9A1A-457D-41A7-8EB2-9EDB35FD6D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94" y="5845439"/>
            <a:ext cx="2621869" cy="9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1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2F045-DD7C-4B95-8606-CBBD5A3C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3B75952-55E0-4EB8-A81F-97B3BC21F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5886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66A743A-E437-413D-88FF-47DD62AD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FCF9E96-05DE-47CA-B8EA-32B537BA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DBA019C-1265-4B9A-9ADE-0865F266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A2AE9B-6862-42E2-AB6B-366AE0A98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257" y="5803475"/>
            <a:ext cx="5480595" cy="91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F6BE817-EDAA-4B90-A27A-5A9AB5A534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46" y="5812300"/>
            <a:ext cx="1308758" cy="91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9C8C923-D93F-4608-B6FB-BEF5250EC4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94" y="5845439"/>
            <a:ext cx="2621869" cy="9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9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E344E-8671-4948-92F9-F98008A5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E580960-DBB9-4245-8DC2-26F8D5B6C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488D69C-1610-4F79-820F-5A4EA581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B851F6-DAB9-4158-BCC1-9AD6C108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A620D2-F321-4B19-B97F-A7D1BDEB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271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CB7F3-0270-415E-9DE9-31BE8893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8816A7-724B-4FB6-A589-3EE1D241B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FC8CA2B-F5C4-48CB-B8AE-F7B4D1306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4B17DE7-0D6E-4AFB-B30C-D3E16263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0499B9-1529-407D-A78F-234094A6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0331B4F-CAB9-4820-AE6E-2BBA31C2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1481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1B649-0858-4801-B58F-3CCEF718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A7EDD1D-4DC3-4DC5-B7F1-9B2E9C87B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ECFC7D3-4511-409A-8FEC-E7625791D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C816DE9-1E99-4967-9018-05157C2D9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E03C777-9E08-45A6-B530-401703352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B48CF5B-0E50-4C84-AC3C-9F7AD261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8DE52D8-6ADC-4CA5-BA99-8F782B0F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BF964D7-8135-43D4-8E4D-6A3C91EE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513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E6EC4-5615-48CB-86BE-D83C6E64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F0A057C-2474-492F-85D5-427F38B0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5B1CFBA-2087-4CE6-A647-A825750E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284952D-0327-4F2A-A48F-A6308096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2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13A615E-EB3F-4ED7-A334-E51D9752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EEA9F25-9AC5-4903-A8D7-98C01B96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D127D32-807E-48FD-A284-078EA372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624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92DB0-2F58-48EB-B5F8-9AFC8A9C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0990D5-748A-401C-AC31-9EBF29AED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5A8871B-A0F0-47D3-9FC8-0F5410180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9317791-9CD9-443E-B15C-2DD6A369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8C55920-13AC-471D-83B2-74CF9A0C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19708F5-53DE-49C5-AF6A-1F39B684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158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DDCD9-FF37-42CF-B5DC-AA6C9B09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6766358-A924-4031-A9FD-055598639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D25CB5F-5FA0-41B3-86F7-70870A9C4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925C440-2AE4-4001-9248-F34AFD11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70B7367-439F-4885-825B-76034790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C20BAAD-AB82-49CB-A1AA-50B7AFD9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593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8701D-3C50-4F86-8C2F-34A7E109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21A94A0-3780-4D5F-AE70-97E306DF8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4164BA-5075-4967-B5F4-6B3F747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BC11320-762D-4F4C-A0AF-F3BB9F80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607DC06-EF12-465B-A963-94BF833F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976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D266FE-E52F-4D54-BB6D-CA35DBA64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D1119F6-9436-48DE-A7B7-4803FE3ED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975281-236C-4850-9BE6-78EA5D41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B71EFA5-E943-488E-8219-845030ED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693A78-1D85-496F-8CEF-22F798BB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33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14C6CBE7-FFD4-485E-B06F-58C1C90EB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C121754-20BF-4631-A8AE-7676EA699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AD3AF4-8E57-490A-964C-858688446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0F112-1363-4234-BDDC-BF2BCAB3DDA2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AC8BC0B-69E7-40C0-8446-BE887BF66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585D66-348D-4607-9FB1-4DEECD3F9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F5D62-5FAE-442C-AB2D-47EFB6C976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614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8E06F-B8F9-42E4-B8F4-601B22B47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Bem-vindos ao Mundo da Ciência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F2C4DD-C7C7-4422-A3FC-7976E6004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PT" sz="4400" b="1" dirty="0"/>
              <a:t>com R</a:t>
            </a:r>
          </a:p>
          <a:p>
            <a:endParaRPr lang="pt-PT" sz="2800" b="1" dirty="0"/>
          </a:p>
          <a:p>
            <a:r>
              <a:rPr lang="pt-PT" sz="2800" dirty="0"/>
              <a:t>Norberto Jorge Gonçalves</a:t>
            </a:r>
          </a:p>
        </p:txBody>
      </p:sp>
    </p:spTree>
    <p:extLst>
      <p:ext uri="{BB962C8B-B14F-4D97-AF65-F5344CB8AC3E}">
        <p14:creationId xmlns:p14="http://schemas.microsoft.com/office/powerpoint/2010/main" val="126260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5B58E-D015-4687-B214-307DCE26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O que é a Ciência de Dados?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BDD350F-5697-421F-A82D-BEA3179AD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PT" b="1" dirty="0"/>
              <a:t>Definição Simples:</a:t>
            </a:r>
            <a:r>
              <a:rPr lang="pt-PT" dirty="0"/>
              <a:t> É a arte e a ciência de extrair conhecimento e </a:t>
            </a:r>
            <a:r>
              <a:rPr lang="pt-PT" i="1" dirty="0"/>
              <a:t>insights</a:t>
            </a:r>
            <a:r>
              <a:rPr lang="pt-PT" dirty="0"/>
              <a:t> de dados.</a:t>
            </a:r>
            <a:endParaRPr lang="en-GB" dirty="0"/>
          </a:p>
          <a:p>
            <a:pPr lvl="0"/>
            <a:r>
              <a:rPr lang="pt-PT" dirty="0"/>
              <a:t>É uma área multidisciplinar que combina:</a:t>
            </a:r>
            <a:endParaRPr lang="en-GB" dirty="0"/>
          </a:p>
          <a:p>
            <a:pPr lvl="1"/>
            <a:r>
              <a:rPr lang="pt-PT" b="1" dirty="0"/>
              <a:t>Matemática e Estatística:</a:t>
            </a:r>
            <a:r>
              <a:rPr lang="pt-PT" dirty="0"/>
              <a:t> A base para entender padrões.</a:t>
            </a:r>
            <a:endParaRPr lang="en-GB" dirty="0"/>
          </a:p>
          <a:p>
            <a:pPr lvl="1"/>
            <a:r>
              <a:rPr lang="pt-PT" b="1" dirty="0"/>
              <a:t>Programação:</a:t>
            </a:r>
            <a:r>
              <a:rPr lang="pt-PT" dirty="0"/>
              <a:t> Para manipular e analisar grandes volumes de dados.</a:t>
            </a:r>
            <a:endParaRPr lang="en-GB" dirty="0"/>
          </a:p>
          <a:p>
            <a:pPr lvl="1"/>
            <a:r>
              <a:rPr lang="pt-PT" b="1" dirty="0"/>
              <a:t>Conhecimento do Domínio:</a:t>
            </a:r>
            <a:r>
              <a:rPr lang="pt-PT" dirty="0"/>
              <a:t> Para contextualizar os problemas.</a:t>
            </a:r>
            <a:endParaRPr lang="en-GB" dirty="0"/>
          </a:p>
          <a:p>
            <a:pPr lvl="0"/>
            <a:r>
              <a:rPr lang="pt-PT" b="1" dirty="0"/>
              <a:t>Palavra-chave:</a:t>
            </a:r>
            <a:r>
              <a:rPr lang="pt-PT" dirty="0"/>
              <a:t> Resolver problemas reais usando dados.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2276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A3072-F29C-4F99-9D98-366EFB2D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4000" b="1" dirty="0"/>
              <a:t>Porquê a Ciência de Dados é Tão Importante Hoje?</a:t>
            </a:r>
            <a:endParaRPr lang="pt-PT" sz="40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40C7D2D-B03C-483E-ADDD-769EAE97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pt-PT" b="1" dirty="0"/>
              <a:t>Vivemos na Era dos Dados:</a:t>
            </a:r>
            <a:r>
              <a:rPr lang="pt-PT" dirty="0"/>
              <a:t> Tudo gera dados (redes sociais, sensores, compras online, etc.).</a:t>
            </a:r>
            <a:endParaRPr lang="en-GB" dirty="0"/>
          </a:p>
          <a:p>
            <a:pPr lvl="0"/>
            <a:r>
              <a:rPr lang="pt-PT" b="1" dirty="0"/>
              <a:t>Tomada de Decisão Informada:</a:t>
            </a:r>
            <a:r>
              <a:rPr lang="pt-PT" dirty="0"/>
              <a:t> Empresas, governos e investigadores usam dados para tomar melhores decisões.</a:t>
            </a:r>
            <a:endParaRPr lang="en-GB" dirty="0"/>
          </a:p>
          <a:p>
            <a:pPr lvl="0"/>
            <a:r>
              <a:rPr lang="en-GB" b="1" dirty="0" err="1"/>
              <a:t>Exemplos</a:t>
            </a:r>
            <a:r>
              <a:rPr lang="en-GB" b="1" dirty="0"/>
              <a:t> </a:t>
            </a:r>
            <a:r>
              <a:rPr lang="en-GB" b="1" dirty="0" err="1"/>
              <a:t>Reais</a:t>
            </a:r>
            <a:r>
              <a:rPr lang="en-GB" b="1" dirty="0"/>
              <a:t>:</a:t>
            </a:r>
            <a:endParaRPr lang="en-GB" dirty="0"/>
          </a:p>
          <a:p>
            <a:pPr lvl="1"/>
            <a:r>
              <a:rPr lang="pt-PT" dirty="0"/>
              <a:t>Recomendações de filmes (</a:t>
            </a:r>
            <a:r>
              <a:rPr lang="pt-PT" dirty="0" err="1"/>
              <a:t>Netflix</a:t>
            </a:r>
            <a:r>
              <a:rPr lang="pt-PT" dirty="0"/>
              <a:t>), produtos (Amazon).</a:t>
            </a:r>
            <a:endParaRPr lang="en-GB" dirty="0"/>
          </a:p>
          <a:p>
            <a:pPr lvl="1"/>
            <a:r>
              <a:rPr lang="en-GB" dirty="0" err="1"/>
              <a:t>Previsão</a:t>
            </a:r>
            <a:r>
              <a:rPr lang="en-GB" dirty="0"/>
              <a:t> </a:t>
            </a:r>
            <a:r>
              <a:rPr lang="en-GB" dirty="0" err="1"/>
              <a:t>meteorológica</a:t>
            </a:r>
            <a:r>
              <a:rPr lang="en-GB" dirty="0"/>
              <a:t>.</a:t>
            </a:r>
          </a:p>
          <a:p>
            <a:pPr lvl="1"/>
            <a:r>
              <a:rPr lang="en-GB" dirty="0" err="1"/>
              <a:t>Diagnóstico</a:t>
            </a:r>
            <a:r>
              <a:rPr lang="en-GB" dirty="0"/>
              <a:t> </a:t>
            </a:r>
            <a:r>
              <a:rPr lang="en-GB" dirty="0" err="1"/>
              <a:t>médico</a:t>
            </a:r>
            <a:r>
              <a:rPr lang="en-GB" dirty="0"/>
              <a:t>.</a:t>
            </a:r>
          </a:p>
          <a:p>
            <a:pPr lvl="1"/>
            <a:r>
              <a:rPr lang="pt-PT" dirty="0"/>
              <a:t>Otimização de rotas de entrega.</a:t>
            </a:r>
            <a:endParaRPr lang="en-GB" dirty="0"/>
          </a:p>
          <a:p>
            <a:pPr lvl="1"/>
            <a:r>
              <a:rPr lang="en-GB" dirty="0" err="1"/>
              <a:t>Desenvolvimento</a:t>
            </a:r>
            <a:r>
              <a:rPr lang="en-GB" dirty="0"/>
              <a:t> de </a:t>
            </a:r>
            <a:r>
              <a:rPr lang="en-GB" dirty="0" err="1"/>
              <a:t>novas</a:t>
            </a:r>
            <a:r>
              <a:rPr lang="en-GB" dirty="0"/>
              <a:t> </a:t>
            </a:r>
            <a:r>
              <a:rPr lang="en-GB" dirty="0" err="1"/>
              <a:t>medicinas</a:t>
            </a:r>
            <a:r>
              <a:rPr lang="en-GB" dirty="0"/>
              <a:t>.</a:t>
            </a:r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7833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A3072-F29C-4F99-9D98-366EFB2D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O Papel do Cientista de Dados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40C7D2D-B03C-483E-ADDD-769EAE97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PT" dirty="0"/>
              <a:t>É um detetive de dados!</a:t>
            </a:r>
            <a:endParaRPr lang="en-GB" dirty="0"/>
          </a:p>
          <a:p>
            <a:pPr lvl="0"/>
            <a:r>
              <a:rPr lang="en-GB" b="1" dirty="0"/>
              <a:t>O que </a:t>
            </a:r>
            <a:r>
              <a:rPr lang="en-GB" b="1" dirty="0" err="1"/>
              <a:t>faz</a:t>
            </a:r>
            <a:r>
              <a:rPr lang="en-GB" b="1" dirty="0"/>
              <a:t>?</a:t>
            </a:r>
            <a:endParaRPr lang="en-GB" dirty="0"/>
          </a:p>
          <a:p>
            <a:pPr lvl="1"/>
            <a:r>
              <a:rPr lang="pt-PT" b="1" dirty="0"/>
              <a:t>Define o Problema:</a:t>
            </a:r>
            <a:r>
              <a:rPr lang="pt-PT" dirty="0"/>
              <a:t> Qual a pergunta a responder?</a:t>
            </a:r>
            <a:endParaRPr lang="en-GB" dirty="0"/>
          </a:p>
          <a:p>
            <a:pPr lvl="1"/>
            <a:r>
              <a:rPr lang="pt-PT" b="1" dirty="0"/>
              <a:t>Recolhe e Limpa Dados:</a:t>
            </a:r>
            <a:r>
              <a:rPr lang="pt-PT" dirty="0"/>
              <a:t> Nem sempre os dados estão "bonitos"!</a:t>
            </a:r>
            <a:endParaRPr lang="en-GB" dirty="0"/>
          </a:p>
          <a:p>
            <a:pPr lvl="1"/>
            <a:r>
              <a:rPr lang="pt-PT" b="1" dirty="0"/>
              <a:t>Analisa e Modela:</a:t>
            </a:r>
            <a:r>
              <a:rPr lang="pt-PT" dirty="0"/>
              <a:t> Descobre padrões e relações.</a:t>
            </a:r>
            <a:endParaRPr lang="en-GB" dirty="0"/>
          </a:p>
          <a:p>
            <a:pPr lvl="1"/>
            <a:r>
              <a:rPr lang="pt-PT" b="1" dirty="0"/>
              <a:t>Visualiza:</a:t>
            </a:r>
            <a:r>
              <a:rPr lang="pt-PT" dirty="0"/>
              <a:t> Apresenta os resultados de forma clara.</a:t>
            </a:r>
            <a:endParaRPr lang="en-GB" dirty="0"/>
          </a:p>
          <a:p>
            <a:pPr lvl="1"/>
            <a:r>
              <a:rPr lang="pt-PT" b="1" dirty="0"/>
              <a:t>Comunica:</a:t>
            </a:r>
            <a:r>
              <a:rPr lang="pt-PT" dirty="0"/>
              <a:t> Conta a história que os dados revelam.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21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F03CE-2F30-4561-9FC0-5E1C8A2B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A Nossa Ferramenta: R e R-</a:t>
            </a:r>
            <a:r>
              <a:rPr lang="pt-PT" b="1" dirty="0" err="1"/>
              <a:t>Studio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DEBDD2C-BC34-4469-8F4F-0F974D60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O que é o R?</a:t>
            </a:r>
            <a:endParaRPr lang="en-GB" dirty="0"/>
          </a:p>
          <a:p>
            <a:pPr lvl="1"/>
            <a:r>
              <a:rPr lang="pt-PT" dirty="0"/>
              <a:t>Uma linguagem de programação </a:t>
            </a:r>
            <a:r>
              <a:rPr lang="pt-PT" b="1" dirty="0"/>
              <a:t>gratuita</a:t>
            </a:r>
            <a:r>
              <a:rPr lang="pt-PT" dirty="0"/>
              <a:t> e </a:t>
            </a:r>
            <a:r>
              <a:rPr lang="pt-PT" b="1" dirty="0"/>
              <a:t>open-</a:t>
            </a:r>
            <a:r>
              <a:rPr lang="pt-PT" b="1" dirty="0" err="1"/>
              <a:t>source</a:t>
            </a:r>
            <a:r>
              <a:rPr lang="pt-PT" dirty="0"/>
              <a:t>.</a:t>
            </a:r>
            <a:endParaRPr lang="en-GB" dirty="0"/>
          </a:p>
          <a:p>
            <a:pPr lvl="1"/>
            <a:r>
              <a:rPr lang="pt-PT" dirty="0"/>
              <a:t>Especialmente desenhada para </a:t>
            </a:r>
            <a:r>
              <a:rPr lang="pt-PT" b="1" dirty="0"/>
              <a:t>estatística</a:t>
            </a:r>
            <a:r>
              <a:rPr lang="pt-PT" dirty="0"/>
              <a:t> e </a:t>
            </a:r>
            <a:r>
              <a:rPr lang="pt-PT" b="1" dirty="0"/>
              <a:t>análise de dados</a:t>
            </a:r>
            <a:r>
              <a:rPr lang="pt-PT" dirty="0"/>
              <a:t>.</a:t>
            </a:r>
            <a:endParaRPr lang="en-GB" dirty="0"/>
          </a:p>
          <a:p>
            <a:pPr lvl="1"/>
            <a:r>
              <a:rPr lang="pt-PT" dirty="0"/>
              <a:t>Tem uma comunidade enorme e muitos pacotes (ferramentas extra).</a:t>
            </a:r>
            <a:endParaRPr lang="en-GB" dirty="0"/>
          </a:p>
          <a:p>
            <a:pPr lvl="0"/>
            <a:r>
              <a:rPr lang="pt-PT" b="1" dirty="0"/>
              <a:t>O que é o R-</a:t>
            </a:r>
            <a:r>
              <a:rPr lang="pt-PT" b="1" dirty="0" err="1"/>
              <a:t>Studio</a:t>
            </a:r>
            <a:r>
              <a:rPr lang="pt-PT" b="1" dirty="0"/>
              <a:t>?</a:t>
            </a:r>
            <a:endParaRPr lang="en-GB" dirty="0"/>
          </a:p>
          <a:p>
            <a:pPr lvl="1"/>
            <a:r>
              <a:rPr lang="pt-PT" dirty="0"/>
              <a:t>É um </a:t>
            </a:r>
            <a:r>
              <a:rPr lang="pt-PT" b="1" dirty="0"/>
              <a:t>Ambiente de Desenvolvimento Integrado (IDE)</a:t>
            </a:r>
            <a:r>
              <a:rPr lang="pt-PT" dirty="0"/>
              <a:t> para o R.</a:t>
            </a:r>
            <a:endParaRPr lang="en-GB" dirty="0"/>
          </a:p>
          <a:p>
            <a:pPr lvl="1"/>
            <a:r>
              <a:rPr lang="pt-PT" dirty="0"/>
              <a:t>Torna o uso do R muito mais fácil e intuitivo.</a:t>
            </a:r>
            <a:endParaRPr lang="en-GB" dirty="0"/>
          </a:p>
          <a:p>
            <a:pPr lvl="1"/>
            <a:r>
              <a:rPr lang="pt-PT" dirty="0"/>
              <a:t>É como o "escritório" onde vamos trabalhar com o 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848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CBAAE-0559-42DD-A1BA-4D6A05B5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Porquê R para a Ciência de Dados?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61A523B-51EC-4DC4-9005-38E4445E7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PT" b="1" dirty="0"/>
              <a:t>Poderoso:</a:t>
            </a:r>
            <a:r>
              <a:rPr lang="pt-PT" dirty="0"/>
              <a:t> Capaz de lidar com grandes e complexos </a:t>
            </a:r>
            <a:r>
              <a:rPr lang="pt-PT" dirty="0" err="1"/>
              <a:t>datasets</a:t>
            </a:r>
            <a:r>
              <a:rPr lang="pt-PT" dirty="0"/>
              <a:t>.</a:t>
            </a:r>
            <a:endParaRPr lang="en-GB" dirty="0"/>
          </a:p>
          <a:p>
            <a:pPr lvl="0"/>
            <a:r>
              <a:rPr lang="pt-PT" b="1" dirty="0"/>
              <a:t>Gráficos Espetaculares:</a:t>
            </a:r>
            <a:r>
              <a:rPr lang="pt-PT" dirty="0"/>
              <a:t> Permite criar visualizações de dados incríveis.</a:t>
            </a:r>
            <a:endParaRPr lang="en-GB" dirty="0"/>
          </a:p>
          <a:p>
            <a:pPr lvl="0"/>
            <a:r>
              <a:rPr lang="pt-PT" b="1" dirty="0"/>
              <a:t>Comunidade Ativa:</a:t>
            </a:r>
            <a:r>
              <a:rPr lang="pt-PT" dirty="0"/>
              <a:t> Ajuda e recursos sempre disponíveis.</a:t>
            </a:r>
            <a:endParaRPr lang="en-GB" dirty="0"/>
          </a:p>
          <a:p>
            <a:pPr lvl="0"/>
            <a:r>
              <a:rPr lang="pt-PT" b="1" dirty="0"/>
              <a:t>Indústria:</a:t>
            </a:r>
            <a:r>
              <a:rPr lang="pt-PT" dirty="0"/>
              <a:t> Muito usado em diversas áreas (saúde, finanças, marketing, investigação).</a:t>
            </a:r>
            <a:endParaRPr lang="en-GB" dirty="0"/>
          </a:p>
          <a:p>
            <a:pPr lvl="0"/>
            <a:r>
              <a:rPr lang="pt-PT" b="1" dirty="0"/>
              <a:t>Preparação para o Futuro:</a:t>
            </a:r>
            <a:r>
              <a:rPr lang="pt-PT" dirty="0"/>
              <a:t> Habilidades valiosas para a universidade e carreira.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82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CBAAE-0559-42DD-A1BA-4D6A05B5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Conclusão e Próximos Passos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61A523B-51EC-4DC4-9005-38E4445E7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pt-PT" dirty="0"/>
              <a:t>Mãos na massa com R e R-</a:t>
            </a:r>
            <a:r>
              <a:rPr lang="pt-PT" dirty="0" err="1"/>
              <a:t>Studio</a:t>
            </a:r>
            <a:r>
              <a:rPr lang="pt-PT" dirty="0"/>
              <a:t>!</a:t>
            </a:r>
            <a:endParaRPr lang="en-GB" dirty="0"/>
          </a:p>
          <a:p>
            <a:pPr marL="457200" lvl="1" indent="0">
              <a:buNone/>
            </a:pPr>
            <a:r>
              <a:rPr lang="en-GB" dirty="0" err="1"/>
              <a:t>Explorar</a:t>
            </a:r>
            <a:r>
              <a:rPr lang="en-GB" dirty="0"/>
              <a:t> o </a:t>
            </a:r>
            <a:r>
              <a:rPr lang="en-GB" dirty="0" err="1"/>
              <a:t>ambiente</a:t>
            </a:r>
            <a:r>
              <a:rPr lang="en-GB" dirty="0"/>
              <a:t>.</a:t>
            </a:r>
          </a:p>
          <a:p>
            <a:pPr marL="457200" lvl="1" indent="0">
              <a:buNone/>
            </a:pPr>
            <a:r>
              <a:rPr lang="pt-PT" dirty="0"/>
              <a:t>Conceitos básicos de programação em R.</a:t>
            </a:r>
            <a:endParaRPr lang="en-GB" dirty="0"/>
          </a:p>
          <a:p>
            <a:pPr marL="457200" lvl="1" indent="0">
              <a:buNone/>
            </a:pPr>
            <a:r>
              <a:rPr lang="en-GB" dirty="0" err="1"/>
              <a:t>Primeiros</a:t>
            </a:r>
            <a:r>
              <a:rPr lang="en-GB" dirty="0"/>
              <a:t> </a:t>
            </a:r>
            <a:r>
              <a:rPr lang="en-GB" dirty="0" err="1"/>
              <a:t>comandos</a:t>
            </a:r>
            <a:r>
              <a:rPr lang="en-GB" dirty="0"/>
              <a:t> </a:t>
            </a:r>
            <a:r>
              <a:rPr lang="en-GB" dirty="0" err="1"/>
              <a:t>práticos</a:t>
            </a:r>
            <a:r>
              <a:rPr lang="en-GB" dirty="0"/>
              <a:t>.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Alguma questão até agora?</a:t>
            </a:r>
          </a:p>
          <a:p>
            <a:pPr marL="0" indent="0">
              <a:buNone/>
            </a:pPr>
            <a:r>
              <a:rPr lang="pt-PT" dirty="0"/>
              <a:t>Estão prontos para começar a programar?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21767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ff43fc-2cfb-43ea-948e-05dcf09366c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CAA9D65DF76646829DB4BB4A04E374" ma:contentTypeVersion="16" ma:contentTypeDescription="Criar um novo documento." ma:contentTypeScope="" ma:versionID="031dccd9d8475db6bca4d1329b4096b1">
  <xsd:schema xmlns:xsd="http://www.w3.org/2001/XMLSchema" xmlns:xs="http://www.w3.org/2001/XMLSchema" xmlns:p="http://schemas.microsoft.com/office/2006/metadata/properties" xmlns:ns3="d4ff43fc-2cfb-43ea-948e-05dcf09366c0" xmlns:ns4="5d171afc-6f64-430a-a0a0-cab819ec5ce9" targetNamespace="http://schemas.microsoft.com/office/2006/metadata/properties" ma:root="true" ma:fieldsID="a16e965669dab7a8aa7b5b8e088472f5" ns3:_="" ns4:_="">
    <xsd:import namespace="d4ff43fc-2cfb-43ea-948e-05dcf09366c0"/>
    <xsd:import namespace="5d171afc-6f64-430a-a0a0-cab819ec5c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ff43fc-2cfb-43ea-948e-05dcf09366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71afc-6f64-430a-a0a0-cab819ec5ce9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BD9DC9-7C68-45FB-8846-F71407219264}">
  <ds:schemaRefs>
    <ds:schemaRef ds:uri="http://purl.org/dc/elements/1.1/"/>
    <ds:schemaRef ds:uri="http://purl.org/dc/dcmitype/"/>
    <ds:schemaRef ds:uri="http://purl.org/dc/terms/"/>
    <ds:schemaRef ds:uri="5d171afc-6f64-430a-a0a0-cab819ec5ce9"/>
    <ds:schemaRef ds:uri="http://schemas.microsoft.com/office/2006/documentManagement/types"/>
    <ds:schemaRef ds:uri="d4ff43fc-2cfb-43ea-948e-05dcf09366c0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8B37F6-4387-4AF6-BCBD-2D79D5CEA6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03A8F3-B7F1-4F6C-9F80-F564B845F7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ff43fc-2cfb-43ea-948e-05dcf09366c0"/>
    <ds:schemaRef ds:uri="5d171afc-6f64-430a-a0a0-cab819ec5c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416</Words>
  <Application>Microsoft Office PowerPoint</Application>
  <PresentationFormat>Ecrã Panorâmico</PresentationFormat>
  <Paragraphs>50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Bem-vindos ao Mundo da Ciência de Dados</vt:lpstr>
      <vt:lpstr>O que é a Ciência de Dados?</vt:lpstr>
      <vt:lpstr>Porquê a Ciência de Dados é Tão Importante Hoje?</vt:lpstr>
      <vt:lpstr>O Papel do Cientista de Dados</vt:lpstr>
      <vt:lpstr>A Nossa Ferramenta: R e R-Studio</vt:lpstr>
      <vt:lpstr>Porquê R para a Ciência de Dados?</vt:lpstr>
      <vt:lpstr>Conclusão e Próximos Passos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Bem-vindos à Computação Científica</dc:title>
  <dc:creator>Norberto J. Gonçalves</dc:creator>
  <cp:lastModifiedBy>Norberto J. Gonçalves</cp:lastModifiedBy>
  <cp:revision>4</cp:revision>
  <dcterms:created xsi:type="dcterms:W3CDTF">2025-07-06T15:30:13Z</dcterms:created>
  <dcterms:modified xsi:type="dcterms:W3CDTF">2026-07-06T10:33:12Z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0x01010074CAA9D65DF76646829DB4BB4A04E374</vt:lpwstr>
  </property>
</Properties>
</file>